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Prostokąt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Prostokąt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2" name="Prostokąt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Prostokąt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pl-PL" smtClean="0"/>
              <a:t>Kliknij ikonę, aby dodać obraz</a:t>
            </a:r>
            <a:endParaRPr kumimoji="0" lang="en-US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11" name="Prostokąt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Prostokąt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Prostokąt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Prostokąt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6221E02-25CB-4963-84BC-0813985E7D90}" type="datetimeFigureOut">
              <a:rPr lang="pl-PL" smtClean="0"/>
              <a:pPr/>
              <a:t>05.05.2026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 dirty="0" smtClean="0"/>
              <a:t>LENS: Learning Ensemble Confidence from Neural States for Multi-LLM Answer Integration</a:t>
            </a:r>
            <a:r>
              <a:rPr lang="en-US" b="0" dirty="0" smtClean="0"/>
              <a:t/>
            </a:r>
            <a:br>
              <a:rPr lang="en-US" b="0" dirty="0" smtClean="0"/>
            </a:br>
            <a:endParaRPr lang="en-US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Autorzy: Marek Górski, Łukasz </a:t>
            </a:r>
            <a:r>
              <a:rPr lang="pl-PL" dirty="0" err="1" smtClean="0"/>
              <a:t>Stajkowski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Ograniczenia</a:t>
            </a: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LLM</a:t>
            </a:r>
          </a:p>
          <a:p>
            <a:endParaRPr lang="pl-PL" dirty="0" smtClean="0"/>
          </a:p>
          <a:p>
            <a:r>
              <a:rPr lang="pl-PL" dirty="0" smtClean="0"/>
              <a:t>Sprzęt</a:t>
            </a:r>
          </a:p>
          <a:p>
            <a:pPr lvl="1"/>
            <a:r>
              <a:rPr lang="pl-PL" dirty="0" smtClean="0"/>
              <a:t>AMD </a:t>
            </a:r>
            <a:r>
              <a:rPr lang="pl-PL" dirty="0" err="1" smtClean="0"/>
              <a:t>Radeon</a:t>
            </a:r>
            <a:r>
              <a:rPr lang="pl-PL" dirty="0" smtClean="0"/>
              <a:t> RX 7900XTX</a:t>
            </a:r>
          </a:p>
          <a:p>
            <a:pPr lvl="1"/>
            <a:r>
              <a:rPr lang="pl-PL" dirty="0" smtClean="0"/>
              <a:t>Platforma </a:t>
            </a:r>
            <a:r>
              <a:rPr lang="pl-PL" dirty="0" err="1" smtClean="0"/>
              <a:t>ROCm</a:t>
            </a:r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Modele</a:t>
            </a: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/>
              <a:t>unsloth</a:t>
            </a:r>
            <a:r>
              <a:rPr lang="pl-PL" dirty="0" smtClean="0"/>
              <a:t>/Llama-3.2-1B-Instruct</a:t>
            </a:r>
          </a:p>
          <a:p>
            <a:r>
              <a:rPr lang="pl-PL" dirty="0" err="1" smtClean="0"/>
              <a:t>ai-nexuz</a:t>
            </a:r>
            <a:r>
              <a:rPr lang="pl-PL" dirty="0" smtClean="0"/>
              <a:t>/llama-3.2-1b-instruct-fine-tuned</a:t>
            </a:r>
          </a:p>
          <a:p>
            <a:r>
              <a:rPr lang="pl-PL" dirty="0" err="1" smtClean="0"/>
              <a:t>NousResearch</a:t>
            </a:r>
            <a:r>
              <a:rPr lang="pl-PL" dirty="0" smtClean="0"/>
              <a:t>/Hermes-3-Llama-3.2-3B</a:t>
            </a:r>
          </a:p>
          <a:p>
            <a:r>
              <a:rPr lang="pl-PL" dirty="0" err="1" smtClean="0"/>
              <a:t>keeeeenw</a:t>
            </a:r>
            <a:r>
              <a:rPr lang="pl-PL" dirty="0" smtClean="0"/>
              <a:t>/Llama-3.2-1B-Instruct-Open-R1-Distill</a:t>
            </a:r>
          </a:p>
          <a:p>
            <a:r>
              <a:rPr lang="pl-PL" dirty="0" err="1" smtClean="0"/>
              <a:t>EpistemeAI</a:t>
            </a:r>
            <a:r>
              <a:rPr lang="pl-PL" dirty="0" smtClean="0"/>
              <a:t>/Reasoning-Llama-3.2-1B-Instruct-v1.2</a:t>
            </a:r>
            <a:endParaRPr lang="pl-PL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Jak to działa?</a:t>
            </a:r>
            <a:endParaRPr lang="en-US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/>
              <a:t>Ensembling</a:t>
            </a:r>
            <a:r>
              <a:rPr lang="pl-PL" dirty="0" smtClean="0"/>
              <a:t> na </a:t>
            </a:r>
            <a:r>
              <a:rPr lang="pl-PL" dirty="0" err="1" smtClean="0"/>
              <a:t>tokenie</a:t>
            </a:r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CMLP(</a:t>
            </a:r>
            <a:r>
              <a:rPr lang="pl-PL" dirty="0" err="1" smtClean="0"/>
              <a:t>Confidence</a:t>
            </a:r>
            <a:r>
              <a:rPr lang="pl-PL" dirty="0" smtClean="0"/>
              <a:t> </a:t>
            </a:r>
            <a:r>
              <a:rPr lang="pl-PL" dirty="0" err="1" smtClean="0"/>
              <a:t>Multi-Layer</a:t>
            </a:r>
            <a:r>
              <a:rPr lang="pl-PL" dirty="0" smtClean="0"/>
              <a:t> Perceptron)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 smtClean="0"/>
              <a:t>Benchmarki</a:t>
            </a:r>
            <a:endParaRPr lang="en-US" dirty="0"/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</p:nvPr>
        </p:nvGraphicFramePr>
        <p:xfrm>
          <a:off x="928662" y="2214554"/>
          <a:ext cx="7191405" cy="3796360"/>
        </p:xfrm>
        <a:graphic>
          <a:graphicData uri="http://schemas.openxmlformats.org/drawingml/2006/table">
            <a:tbl>
              <a:tblPr/>
              <a:tblGrid>
                <a:gridCol w="2397135"/>
                <a:gridCol w="2397135"/>
                <a:gridCol w="2397135"/>
              </a:tblGrid>
              <a:tr h="949090">
                <a:tc>
                  <a:txBody>
                    <a:bodyPr/>
                    <a:lstStyle/>
                    <a:p>
                      <a:r>
                        <a:rPr lang="pl-PL"/>
                        <a:t>google/boolq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train[:2000]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rozumowanie binarne (tak/nie)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9090">
                <a:tc>
                  <a:txBody>
                    <a:bodyPr/>
                    <a:lstStyle/>
                    <a:p>
                      <a:r>
                        <a:rPr lang="pl-PL"/>
                        <a:t>smoorsmith/prontoqa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train[:500]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wieloetapowa logika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949090">
                <a:tc>
                  <a:txBody>
                    <a:bodyPr/>
                    <a:lstStyle/>
                    <a:p>
                      <a:r>
                        <a:rPr lang="pl-PL"/>
                        <a:t>skrishna/coin_flip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train[:2000]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spójność probabilistyczna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9090">
                <a:tc>
                  <a:txBody>
                    <a:bodyPr/>
                    <a:lstStyle/>
                    <a:p>
                      <a:r>
                        <a:rPr lang="pl-PL"/>
                        <a:t>tasksource/proofwriter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train[:2000]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strukturalne dowodzenie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Rezultaty (dokładność %)</a:t>
            </a:r>
            <a:endParaRPr lang="en-US" dirty="0"/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</p:nvPr>
        </p:nvGraphicFramePr>
        <p:xfrm>
          <a:off x="214282" y="1571612"/>
          <a:ext cx="8543955" cy="4981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91"/>
                <a:gridCol w="1708791"/>
                <a:gridCol w="1708791"/>
                <a:gridCol w="1708791"/>
                <a:gridCol w="1708791"/>
              </a:tblGrid>
              <a:tr h="624117"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Model\Dataset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boolq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coin_flip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prontoqa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err="1" smtClean="0"/>
                        <a:t>proofwriter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Ensemble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83.0</a:t>
                      </a:r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Hermes-3-Llama-3.2-3B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53.0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53.0</a:t>
                      </a:r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Llama-3.2-1B-Instruct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68.0</a:t>
                      </a:r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Llama-3.2-1B-Instruct-Open-R1-Distill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55.5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55.5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27.0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92.5</a:t>
                      </a:r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Reasoning-Llama-3.2-1B-Instruct-v1.2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12.5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70.5</a:t>
                      </a:r>
                      <a:endParaRPr lang="en-US" dirty="0"/>
                    </a:p>
                  </a:txBody>
                  <a:tcPr/>
                </a:tc>
              </a:tr>
              <a:tr h="624117">
                <a:tc>
                  <a:txBody>
                    <a:bodyPr/>
                    <a:lstStyle/>
                    <a:p>
                      <a:r>
                        <a:rPr lang="pl-PL" sz="1600" dirty="0" smtClean="0"/>
                        <a:t>llama-3.2-1b-instruct-fine-tuned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47.0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50.0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61.5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Prezentacja działania</a:t>
            </a:r>
            <a:br>
              <a:rPr lang="pl-PL" dirty="0" smtClean="0"/>
            </a:br>
            <a:endParaRPr lang="en-US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Dziękujemy za uwagę</a:t>
            </a:r>
            <a:endParaRPr lang="en-US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ł">
  <a:themeElements>
    <a:clrScheme name="Moduł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ł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ł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88</TotalTime>
  <Words>121</Words>
  <PresentationFormat>Pokaz na ekranie (4:3)</PresentationFormat>
  <Paragraphs>70</Paragraphs>
  <Slides>8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9" baseType="lpstr">
      <vt:lpstr>Moduł</vt:lpstr>
      <vt:lpstr>LENS: Learning Ensemble Confidence from Neural States for Multi-LLM Answer Integration </vt:lpstr>
      <vt:lpstr>Ograniczenia</vt:lpstr>
      <vt:lpstr>Modele</vt:lpstr>
      <vt:lpstr>Jak to działa?</vt:lpstr>
      <vt:lpstr>Benchmarki</vt:lpstr>
      <vt:lpstr>Rezultaty (dokładność %)</vt:lpstr>
      <vt:lpstr>Prezentacja działania </vt:lpstr>
      <vt:lpstr>Dziękujemy za uwagę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Marek</dc:creator>
  <cp:lastModifiedBy>Marek</cp:lastModifiedBy>
  <cp:revision>13</cp:revision>
  <dcterms:created xsi:type="dcterms:W3CDTF">2026-05-05T20:22:29Z</dcterms:created>
  <dcterms:modified xsi:type="dcterms:W3CDTF">2026-05-05T22:01:44Z</dcterms:modified>
</cp:coreProperties>
</file>